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D1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1097280"/>
            <a:ext cx="3840480" cy="38404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5544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2979FF"/>
                </a:solidFill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566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KidGuard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3F2FD"/>
                </a:solidFill>
              </a:rPr>
              <a:t>Child Safety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KidGuard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3F2FD"/>
                </a:solidFill>
              </a:rPr>
              <a:t>AI-Powered Child Safety
for the Modern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Real-time grooming detection on Roblox
— built for parents, powered by 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7406640" cy="41148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2727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Protecting children.  One conversation at a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Online child grooming is growing — and most parents have no idea it's happening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979FF"/>
                </a:solidFill>
              </a:rPr>
              <a:t>500 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Roblox monthly
active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44475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979FF"/>
                </a:solidFill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are under
16 years 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5176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44475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979FF"/>
                </a:solidFill>
              </a:rPr>
              <a:t>1 in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children receive
online sexual
solicitation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651760" cy="2011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444752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979FF"/>
                </a:solidFill>
              </a:rPr>
              <a:t>93%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of grooming
starts with
normal conversation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11430000" cy="36576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74F"/>
                </a:solidFill>
              </a:rPr>
              <a:t>⚠  Children are targeted through legitimate gaming platforms — Roblox, Minecraft, Fortnite — where parents assume they are safe.</a:t>
            </a:r>
          </a:p>
          <a:p>
            <a:pPr algn="l"/>
            <a:r>
              <a:rPr sz="1500" b="0">
                <a:solidFill>
                  <a:srgbClr val="37474F"/>
                </a:solidFill>
              </a:rPr>
              <a:t>⚠  Grooming is gradual. It begins with friendship, trust-building, and compliments before escalating.</a:t>
            </a:r>
          </a:p>
          <a:p>
            <a:pPr algn="l"/>
            <a:r>
              <a:rPr sz="1500" b="0">
                <a:solidFill>
                  <a:srgbClr val="37474F"/>
                </a:solidFill>
              </a:rPr>
              <a:t>⚠  Most parents only discover grooming after serious harm has already occurred.</a:t>
            </a:r>
          </a:p>
          <a:p>
            <a:pPr algn="l"/>
            <a:r>
              <a:rPr sz="1500" b="0">
                <a:solidFill>
                  <a:srgbClr val="37474F"/>
                </a:solidFill>
              </a:rPr>
              <a:t>⚠  Existing tools block content — they don't understand conversations.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Else Exists — and Why It Falls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Current solutions are either too broad, too slow, or too blind to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Net Nanny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74320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874519"/>
            <a:ext cx="2542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✗  Full device agent install
✗  Blocks websites — can't read chat
✗  No AI understanding of context
✗  Expensive monthly subscription
✗  Not gaming-platform aware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25880"/>
            <a:ext cx="2743200" cy="4572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83080"/>
            <a:ext cx="274320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874519"/>
            <a:ext cx="2542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✗  Monitors after the fact (not real-time)
✗  Email/social focused — misses Roblox
✗  No conversation context captured
✗  No SMS instant alert
✗  High false-positive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4572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Qustodio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274320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874519"/>
            <a:ext cx="2542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✗  Keyword-based filtering only
✗  Easily bypassed with synonyms
✗  No AI grooming pattern detection
✗  Network-level only — misses encryption
✗  Generic parental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325880"/>
            <a:ext cx="2743200" cy="4572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Roblox
Chat 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783080"/>
            <a:ext cx="274320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99448" y="1874519"/>
            <a:ext cx="25420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✗  Only filters profanity, not grooming
✗  No parent notification system
✗  No conversation history
✗  Bypass patterns widely known
✗  No risk scoring or AI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Introducing KidGuard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A lightweight, AI-native solution built specifically for gaming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🎯  Platform-Specific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Built exclusively for Roblox — understands the context, the language, and the risk patterns unique to gaming chat.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37160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🤖  AI-Native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874519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Uses Claude AI (Anthropic) to understand conversation intent — not just keywords. Detects manipulation, trust-building, and bypass attempts.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1312" y="137160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⚡  Real-Time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74519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Parents receive an SMS the moment a risk is detected — not hours later when the damage is done.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🪶  Zero Installation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4340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 simple Chrome extension. No device agents, no VPNs, no router changes. Works in minutes.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384048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79976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📋  Evidence-Ready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34340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Captures 10-message conversation context at the moment of detection — ready for authorities if needed.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1312" y="3840480"/>
            <a:ext cx="3749039" cy="224028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2" y="3950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🔒  Privacy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34340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Monitors only Roblox chat. No screenshots, no full device surveillance.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KidGuard vs The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Not just better — fundamentally different in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92608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71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25880"/>
            <a:ext cx="1920240" cy="4114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Net Nanny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66944" y="1325880"/>
            <a:ext cx="1920240" cy="4114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0336" y="1325880"/>
            <a:ext cx="1920240" cy="4114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06055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Roblox 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53728" y="1325880"/>
            <a:ext cx="237744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KidGuard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764792"/>
            <a:ext cx="2926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Real-time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176479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92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66944" y="176479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2664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1764792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06055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53728" y="1764792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8" y="1874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76856"/>
            <a:ext cx="292608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23865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AI conversation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3552" y="2276856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19272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66944" y="2276856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12664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7F17"/>
                </a:solidFill>
              </a:rPr>
              <a:t>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0336" y="2276856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06055" y="2386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53728" y="2276856"/>
            <a:ext cx="23774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9448" y="2386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788920"/>
            <a:ext cx="2926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28986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Grooming bypass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2788920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19272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66944" y="2788920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12664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0336" y="2788920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06055" y="2898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53728" y="2788920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99448" y="2898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300984"/>
            <a:ext cx="292608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3410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SMS instant parent alert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3552" y="3300984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19272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66944" y="3300984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12664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0336" y="3300984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06055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3300984"/>
            <a:ext cx="23774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99448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813048"/>
            <a:ext cx="2926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0040" y="3922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Conversation evidence capture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73552" y="3813048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19272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66944" y="3813048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12664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60336" y="3813048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06055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53728" y="3813048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99448" y="39227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325112"/>
            <a:ext cx="292608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No device install needed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73552" y="4325112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19272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66944" y="4325112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12664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60336" y="4325112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06055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53728" y="4325112"/>
            <a:ext cx="23774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299448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837176"/>
            <a:ext cx="2926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0040" y="4946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Roblox-specific context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73552" y="4837176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19272" y="4946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66944" y="4837176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12664" y="4946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60336" y="4837176"/>
            <a:ext cx="1920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06055" y="4946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7F17"/>
                </a:solidFill>
              </a:rPr>
              <a:t>Partial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53728" y="4837176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299448" y="4946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349240"/>
            <a:ext cx="292608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20040" y="54589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Free / low cost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73552" y="5349240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319272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66944" y="5349240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12664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32F2F"/>
                </a:solidFill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60336" y="5349240"/>
            <a:ext cx="19202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06055" y="5458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253728" y="5349240"/>
            <a:ext cx="2377440" cy="475488"/>
          </a:xfrm>
          <a:prstGeom prst="rect">
            <a:avLst/>
          </a:prstGeom>
          <a:solidFill>
            <a:srgbClr val="F1F8FE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299448" y="5458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Lightweight, modular, and cloud-ready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6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86000"/>
            <a:ext cx="210312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" y="2340864"/>
            <a:ext cx="1956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Chrome
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43200"/>
            <a:ext cx="210312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816352"/>
            <a:ext cx="1883663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MutationObserver
• Pattern scorer
• 10-msg context
• Badge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286000"/>
            <a:ext cx="2286000" cy="4572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2340864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
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743200"/>
            <a:ext cx="228600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0088" y="2816352"/>
            <a:ext cx="2066543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REST API
• Incident routing
• Risk upgrade logic
• Auth / 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1371600"/>
            <a:ext cx="228600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96712" y="1426464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Claude Haiku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828800"/>
            <a:ext cx="2286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33288" y="1901952"/>
            <a:ext cx="206654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Grooming classifier
• 17/17 test accuracy
• Context-aware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3657600"/>
            <a:ext cx="228600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96712" y="3712463"/>
            <a:ext cx="21396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4114800"/>
            <a:ext cx="2286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33288" y="4187952"/>
            <a:ext cx="206654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Incident storage
• Conversation context
• Parent accounts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828800"/>
            <a:ext cx="2103120" cy="45720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1883664"/>
            <a:ext cx="1956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Twilio SMS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28600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7" y="2359152"/>
            <a:ext cx="188366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Instant parent alert
• A2P 10DLC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657600"/>
            <a:ext cx="2103120" cy="457200"/>
          </a:xfrm>
          <a:prstGeom prst="rect">
            <a:avLst/>
          </a:prstGeom>
          <a:solidFill>
            <a:srgbClr val="18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712463"/>
            <a:ext cx="1956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114800"/>
            <a:ext cx="21031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86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22207" y="4187952"/>
            <a:ext cx="188366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Incident review
• Evidence viewer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5486400"/>
            <a:ext cx="2103120" cy="4572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85632" y="5541264"/>
            <a:ext cx="1956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Future: Cloud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5943600"/>
            <a:ext cx="21031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789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7" y="6016752"/>
            <a:ext cx="18836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74F"/>
                </a:solidFill>
              </a:rPr>
              <a:t>• AWS / GCP deploy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31720" y="3886200"/>
            <a:ext cx="548640" cy="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166360" y="2286000"/>
            <a:ext cx="457200" cy="91440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66360" y="4114800"/>
            <a:ext cx="457200" cy="45720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09560" y="2286000"/>
            <a:ext cx="502920" cy="27432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09560" y="4389120"/>
            <a:ext cx="502920" cy="18288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28600" y="1463040"/>
            <a:ext cx="21031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15179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👦  Child on Roblox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80160" y="2057400"/>
            <a:ext cx="0" cy="228600"/>
          </a:xfrm>
          <a:prstGeom prst="line">
            <a:avLst/>
          </a:prstGeom>
          <a:ln w="22860">
            <a:solidFill>
              <a:srgbClr val="7890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48CD1551-CD90-0E7C-C67A-DC0542B1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4" y="1311032"/>
            <a:ext cx="11704320" cy="5200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AI Detection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Claude Haiku — purpose-built for Roblox child safety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7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474720" cy="228600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979FF"/>
                </a:solidFill>
              </a:rPr>
              <a:t>17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Test accuracy
on real grooming
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3474720" cy="146304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913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Detects bypass
attempts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78909C"/>
                </a:solidFill>
              </a:rPr>
              <a:t>"h3y wanna b fr1ends?"
"can we talk on discord instead?"
"don't tell your parents about me"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371600"/>
            <a:ext cx="7863840" cy="5212080"/>
          </a:xfrm>
          <a:prstGeom prst="rect">
            <a:avLst/>
          </a:prstGeom>
          <a:solidFill>
            <a:srgbClr val="1A2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150876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✦  Context-aware, not keyword-based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8288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Understands that 'are you alone?' means something very different in a grooming context than in a normal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47802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✦  Roblox-specific training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798064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System prompt grounds every classification in the Roblox gaming environment — reducing false positives from normal gaming 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44728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✦  Three-tier risk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6732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Returns GROOMING / SUSPICIOUS / SAFE with a confidence score (0-1) and a human-readable reason for parent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41655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✦  Risk upgrade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736592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 confidence ≥ 0.9 → upgrades incident to HIGH risk.  Confidence ≥ 0.8 → MEDIUM.  Layered defence with rule-based scorer.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385816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79FF"/>
                </a:solidFill>
              </a:rPr>
              <a:t>✦  Evidence-quality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705856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detection includes a written reason — e.g. 'Asking child to move conversation off-platform is a classic isolation tactic.'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Makes KidGuard Remarkable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A combination of innovations that no existing product offers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02920" cy="2331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Zero-Install
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A Chrome extension. Parents install it in under 2 minutes — no IT skills, no router config, no VPN.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37160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371600"/>
            <a:ext cx="502920" cy="23317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1103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536192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79FF"/>
                </a:solidFill>
              </a:rPr>
              <a:t>AI That Actually
Understands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Most tools match keywords. KidGuard reads the room — detecting manipulation patterns, urgency, secrecy requests.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37160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312" y="1371600"/>
            <a:ext cx="502920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1536192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</a:rPr>
              <a:t>Sub-Second
Parent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From chat message to parent SMS in under 2 seconds. Real-time response during the critical window.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502920" cy="2331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663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</a:rPr>
              <a:t>Court-Ready
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59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10-message conversation context automatically captured — structured, timestamped, downloadable JSON evidence.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2816" y="393192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42816" y="3931920"/>
            <a:ext cx="502920" cy="2331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3" y="4663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🕵️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409651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</a:rPr>
              <a:t>Bypass-Proof
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4709159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Predators use leetspeak, coded language, and platform-switching tactics. KidGuard is trained to spot all of them.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2" y="3931920"/>
            <a:ext cx="3749039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11312" y="3931920"/>
            <a:ext cx="502920" cy="23317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4663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409651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7F17"/>
                </a:solidFill>
              </a:rPr>
              <a:t>Privacy by
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4709159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74F"/>
                </a:solidFill>
              </a:rPr>
              <a:t>Only monitors Roblox chat. No screenshots, no keystroke logging, no browsing history. Surgical and ethical.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3F2FD"/>
                </a:solidFill>
              </a:rPr>
              <a:t>From Roblox chat to parent awareness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F2FD"/>
                </a:solidFill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3F2FD"/>
                </a:solidFill>
              </a:rPr>
              <a:t>9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240280"/>
            <a:ext cx="182880" cy="10972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78308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</a:rPr>
              <a:t>Child Opens
Roblox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Extension activates automatically on roblox.com. No action needed from the child.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5" y="2240280"/>
            <a:ext cx="182880" cy="10972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1136" y="1325880"/>
            <a:ext cx="1783080" cy="54864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95144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1136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22576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79FF"/>
                </a:solidFill>
              </a:rPr>
              <a:t>Chat is
Monitored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MutationObserver watches for new messages in real time. Existing chat is skipped — no false replay.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6752" y="2240280"/>
            <a:ext cx="182880" cy="10972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87952" y="1325880"/>
            <a:ext cx="178308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9392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A1B9A"/>
                </a:solidFill>
              </a:rPr>
              <a:t>Risk Scored
Locally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Built-in pattern engine scores the message (0-10). Suspicious messages are escalated to AI.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7" y="2240280"/>
            <a:ext cx="182880" cy="10972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44768" y="1325880"/>
            <a:ext cx="1783080" cy="548640"/>
          </a:xfrm>
          <a:prstGeom prst="rect">
            <a:avLst/>
          </a:prstGeom>
          <a:solidFill>
            <a:srgbClr val="D84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08776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7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84315"/>
                </a:solidFill>
              </a:rPr>
              <a:t>AI Classifies
the Threat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Claude Haiku reviews the message and conversation context. Returns label + confidence + reason.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30384" y="2240280"/>
            <a:ext cx="182880" cy="109728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01584" y="1325880"/>
            <a:ext cx="1783080" cy="5486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65592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1584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93024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2F2F"/>
                </a:solidFill>
              </a:rPr>
              <a:t>Incident
Logged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Incident stored with 10-message context. Risk level upgraded if AI confidence is high.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325880"/>
            <a:ext cx="178308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22408" y="1389888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1874519"/>
            <a:ext cx="178308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49840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Parent
Alerted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2651760"/>
            <a:ext cx="1627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74F"/>
                </a:solidFill>
              </a:rPr>
              <a:t>SMS sent instantly via Twilio. Parent opens dashboard to review the full conversation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3F2FD"/>
                </a:solidFill>
                <a:latin typeface="Calibri"/>
              </a:rPr>
              <a:t>What we would do differently tackling a similar project in the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3F2FD"/>
                </a:solidFill>
                <a:latin typeface="Calibri"/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3F2FD"/>
                </a:solidFill>
                <a:latin typeface="Calibri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02920" cy="2331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2103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Start A2P 10DLC Registration 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A2P registration takes weeks for carrier approval. Apply before writing a single line of SMS code, not after the rest of the system is built.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3716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2816" y="1371600"/>
            <a:ext cx="502920" cy="233172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1104" y="2103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508760"/>
            <a:ext cx="274466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2979FF"/>
                </a:solidFill>
                <a:latin typeface="Calibri"/>
              </a:rPr>
              <a:t>Use Live Twilio Credentials from</a:t>
            </a:r>
            <a:br>
              <a:rPr lang="en-ZW" sz="1500" b="1" dirty="0">
                <a:solidFill>
                  <a:srgbClr val="2979FF"/>
                </a:solidFill>
                <a:latin typeface="Calibri"/>
              </a:rPr>
            </a:br>
            <a:r>
              <a:rPr sz="1500" b="1" dirty="0">
                <a:solidFill>
                  <a:srgbClr val="2979FF"/>
                </a:solidFill>
                <a:latin typeface="Calibri"/>
              </a:rPr>
              <a:t>Day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7474F"/>
                </a:solidFill>
                <a:latin typeface="Calibri"/>
              </a:rPr>
              <a:t>Test credentials silently succeed via the API but never deliver an actual SMS. The confusion costs significant debugging time. Start with live credentials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3716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312" y="1371600"/>
            <a:ext cx="502920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1536192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Calibri"/>
              </a:rPr>
              <a:t>Account for Platform DOM Opacity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Roblox uses dynamic, minified CSS class names. Relying on specific selectors breaks without warning. Plan for opaque frontends using broad observers with text-based deduplication.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502920" cy="23317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66344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A1B9A"/>
                </a:solidFill>
                <a:latin typeface="Calibri"/>
              </a:rPr>
              <a:t>Lead with AI Detection, Not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Rule-based detection was fragile and easily bypassed. Claude Haiku delivered 17/17 accuracy on real grooming scenarios. AI-first is the right architecture for context-sensitive safety.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2816" y="39319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42816" y="3931920"/>
            <a:ext cx="502920" cy="2331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466344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4096512"/>
            <a:ext cx="29002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 err="1">
                <a:solidFill>
                  <a:srgbClr val="D32F2F"/>
                </a:solidFill>
                <a:latin typeface="Calibri"/>
              </a:rPr>
              <a:t>Standardise</a:t>
            </a:r>
            <a:r>
              <a:rPr sz="1500" b="1" dirty="0">
                <a:solidFill>
                  <a:srgbClr val="D32F2F"/>
                </a:solidFill>
                <a:latin typeface="Calibri"/>
              </a:rPr>
              <a:t> Environment Naming </a:t>
            </a:r>
            <a:br>
              <a:rPr lang="en-ZW" sz="1500" b="1" dirty="0">
                <a:solidFill>
                  <a:srgbClr val="D32F2F"/>
                </a:solidFill>
                <a:latin typeface="Calibri"/>
              </a:rPr>
            </a:br>
            <a:r>
              <a:rPr sz="1500" b="1" dirty="0">
                <a:solidFill>
                  <a:srgbClr val="D32F2F"/>
                </a:solidFill>
                <a:latin typeface="Calibri"/>
              </a:rPr>
              <a:t>Early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82896" y="470916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Windows virtual environment path mismatches (.venv vs venv) caused silent module-not-found errors. Agree on a naming convention before writing code and document it in startup scripts.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2" y="39319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11312" y="3931920"/>
            <a:ext cx="502920" cy="23317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466344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4096512"/>
            <a:ext cx="30533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F57F17"/>
                </a:solidFill>
                <a:latin typeface="Calibri"/>
              </a:rPr>
              <a:t>Build Dynamic Alert Templates from</a:t>
            </a:r>
            <a:br>
              <a:rPr lang="en-ZW" sz="1500" b="1" dirty="0">
                <a:solidFill>
                  <a:srgbClr val="F57F17"/>
                </a:solidFill>
                <a:latin typeface="Calibri"/>
              </a:rPr>
            </a:br>
            <a:r>
              <a:rPr sz="1500" b="1" dirty="0">
                <a:solidFill>
                  <a:srgbClr val="F57F17"/>
                </a:solidFill>
                <a:latin typeface="Calibri"/>
              </a:rPr>
              <a:t>the 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1392" y="470916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37474F"/>
                </a:solidFill>
                <a:latin typeface="Calibri"/>
              </a:rPr>
              <a:t>A generic alert SMS is useless to a parent. A dynamic alert with child name, platform, flagged message, and AI reasoning is actionable. Design around the parent's response, not the system's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Blockers We Encountered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3F2FD"/>
                </a:solidFill>
                <a:latin typeface="Calibri"/>
              </a:rPr>
              <a:t>Challenges that tested us along the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3F2FD"/>
                </a:solidFill>
                <a:latin typeface="Calibri"/>
              </a:rPr>
              <a:t>KidGuard  |  Child Safety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E3F2FD"/>
                </a:solidFill>
                <a:latin typeface="Calibri"/>
              </a:rPr>
              <a:t>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02920" cy="23317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2103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36192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71C1C"/>
                </a:solidFill>
                <a:latin typeface="Calibri"/>
              </a:rPr>
              <a:t>Twilio A2P 10DLC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7474F"/>
                </a:solidFill>
                <a:latin typeface="Calibri"/>
              </a:rPr>
              <a:t>US carriers require A2P 10DLC business registration before routing SMS from a 10-digit number. Without approval, all messages are silently filtered. Registration was still pending at project completion.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37160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11312" y="1371600"/>
            <a:ext cx="502920" cy="23317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1536192"/>
            <a:ext cx="29297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D32F2F"/>
                </a:solidFill>
                <a:latin typeface="Calibri"/>
              </a:rPr>
              <a:t>Chrome Extension Processing Chat</a:t>
            </a:r>
            <a:br>
              <a:rPr lang="en-ZW" sz="1500" b="1" dirty="0">
                <a:solidFill>
                  <a:srgbClr val="D32F2F"/>
                </a:solidFill>
                <a:latin typeface="Calibri"/>
              </a:rPr>
            </a:br>
            <a:r>
              <a:rPr sz="1500" b="1" dirty="0">
                <a:solidFill>
                  <a:srgbClr val="D32F2F"/>
                </a:solidFill>
                <a:latin typeface="Calibri"/>
              </a:rPr>
              <a:t> History on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7474F"/>
                </a:solidFill>
                <a:latin typeface="Calibri"/>
              </a:rPr>
              <a:t>The </a:t>
            </a:r>
            <a:r>
              <a:rPr sz="1250" b="0" dirty="0" err="1">
                <a:solidFill>
                  <a:srgbClr val="37474F"/>
                </a:solidFill>
                <a:latin typeface="Calibri"/>
              </a:rPr>
              <a:t>MutationObserver</a:t>
            </a:r>
            <a:r>
              <a:rPr sz="1250" b="0" dirty="0">
                <a:solidFill>
                  <a:srgbClr val="37474F"/>
                </a:solidFill>
                <a:latin typeface="Calibri"/>
              </a:rPr>
              <a:t> stability check used Roblox-specific CSS selectors that never matched, causing it to fire before chat history loaded. Historical messages were treated as new, triggering false alerts on every page load.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502920" cy="23317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" y="4663440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96512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360C"/>
                </a:solidFill>
                <a:latin typeface="Calibri"/>
              </a:rPr>
              <a:t>Twilio Trial vs Live Mode Confusion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7474F"/>
                </a:solidFill>
                <a:latin typeface="Calibri"/>
              </a:rPr>
              <a:t>Trial credentials return a successful API response but never deliver SMS to real phones. This caused extended debugging before identifying that the issue was credential type, not code logic.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42815" y="1353804"/>
            <a:ext cx="3749039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2815" y="1371600"/>
            <a:ext cx="502920" cy="2331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79" y="2150068"/>
            <a:ext cx="502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latin typeface="Segoe UI Emoji"/>
              </a:rPr>
              <a:t>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0054" y="1541108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SMS Rate Limiting During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0054" y="21488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dirty="0">
                <a:solidFill>
                  <a:srgbClr val="37474F"/>
                </a:solidFill>
                <a:latin typeface="Calibri"/>
              </a:rPr>
              <a:t>The 5-per-hour per-parent SMS rate limit was hit repeatedly during back-to-back test runs, causing delays in validating alert delivery and requiring careful management of test incidents.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3F2FD"/>
                </a:solidFill>
              </a:rPr>
              <a:t>KidGuard is not just a Chrome extension — it is a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474720" cy="219456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Roblox grooming detection
SMS alerts + evidence capture
AI-powered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74720" cy="4572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474720" cy="219456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Minecraft &amp; Discord support
Mobile companion app
Parent dashboard mobile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3474720" cy="2194560"/>
          </a:xfrm>
          <a:prstGeom prst="rect">
            <a:avLst/>
          </a:prstGeom>
          <a:solidFill>
            <a:srgbClr val="1E2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Multi-platform AI safety layer
School district licensing
Law enforcement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</a:rPr>
              <a:t>"Every child deserves to play freely online. Every parent deserves to know they are safe."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5577840"/>
            <a:ext cx="5760720" cy="640080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5623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🛡  KidGuard — Built for Today. Ready for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1685</Words>
  <Application>Microsoft Office PowerPoint</Application>
  <PresentationFormat>Custom</PresentationFormat>
  <Paragraphs>229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Nathan Nyabvure [student]</cp:lastModifiedBy>
  <cp:revision>4</cp:revision>
  <dcterms:created xsi:type="dcterms:W3CDTF">2013-01-27T09:14:16Z</dcterms:created>
  <dcterms:modified xsi:type="dcterms:W3CDTF">2026-04-30T00:06:41Z</dcterms:modified>
  <cp:category/>
</cp:coreProperties>
</file>